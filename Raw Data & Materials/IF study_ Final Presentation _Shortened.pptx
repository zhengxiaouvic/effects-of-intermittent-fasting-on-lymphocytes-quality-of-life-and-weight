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9" r:id="rId3"/>
    <p:sldId id="260" r:id="rId4"/>
    <p:sldId id="261" r:id="rId5"/>
    <p:sldId id="292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38" autoAdjust="0"/>
    <p:restoredTop sz="88486" autoAdjust="0"/>
  </p:normalViewPr>
  <p:slideViewPr>
    <p:cSldViewPr snapToGrid="0">
      <p:cViewPr varScale="1">
        <p:scale>
          <a:sx n="61" d="100"/>
          <a:sy n="61" d="100"/>
        </p:scale>
        <p:origin x="728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EAC0B1-8562-48AB-BA8D-E0A7A7873E37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572264-2ED4-4C88-A3D0-A88CCADFDF8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266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ll.com/cell-reports/fulltext/S2211-1247(19)30353-5?_returnURL=https%3A%2F%2Flinkinghub.elsevier.com%2Fretrieve%2Fpii%2FS2211124719303535%3Fshowall%3Dtrue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8bb471377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8bb471377b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In response to stress such as nutrient deprivation or hypoxia, autophagy is upregulated and functions to promote cell survival (</a:t>
            </a:r>
            <a:r>
              <a:rPr lang="en-US" u="sng">
                <a:solidFill>
                  <a:schemeClr val="hlink"/>
                </a:solidFill>
                <a:hlinkClick r:id="rId3"/>
              </a:rPr>
              <a:t>Lum et al., 2005</a:t>
            </a:r>
            <a:r>
              <a:rPr lang="en-US"/>
              <a:t>. In cancer cells, autophagy can have a dual role in both tumor cell survival and death.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18bb471377b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5485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8bb471377b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18bb471377b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g18bb471377b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7308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18aed78b94e_4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g18aed78b94e_4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6643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1915bcfc7df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1915bcfc7df_1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/>
              <a:t>15 patients completed the study</a:t>
            </a:r>
            <a:endParaRPr sz="100"/>
          </a:p>
        </p:txBody>
      </p:sp>
      <p:sp>
        <p:nvSpPr>
          <p:cNvPr id="208" name="Google Shape;208;g1915bcfc7df_1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55543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Figure 1. Autophagy flux analysis of the 3-month and 6-month intermittent fasting diet group show decreasing levels of autophagy.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Western blot analysis of </a:t>
            </a:r>
            <a:r>
              <a:rPr lang="en-C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(A)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IF-018 (3 month fast) and </a:t>
            </a:r>
            <a:r>
              <a:rPr lang="en-C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(B)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IF-019 (6 month fast respectively. Cells were treated with and without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hydroxychloroquine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(30 µM) and rapamycin (0.40 µM). LC3-II was detected using an anti-LC3B antibody and GAPDH is shown as a loading control. Positive control lysates were obtained from healthy donor PBMCs treated with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hydroxychloroquine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(30 µM). </a:t>
            </a:r>
            <a:r>
              <a:rPr lang="en-C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(C)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 course of LC3-II levels at 3 month vs. 6-month intermittent fasting groups. Data points are expressed as the mean +/- SEM of all patients in their respective group. Red arrows point to data points</a:t>
            </a:r>
            <a:r>
              <a:rPr lang="en-C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3-month fasting group where patients are off of intermittent fasting. </a:t>
            </a:r>
            <a:r>
              <a:rPr lang="en-CA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(D)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Bar graph of 3-month intermittent fasting group with extended post-diet monitoring. Data points are expressed as the mean +/- SEM of all patients. **Day 150 (n=2)**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572264-2ED4-4C88-A3D0-A88CCADFDF82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8951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8969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5666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3724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226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52883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3727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696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4933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59065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5796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26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8E38EB-9865-4C5C-A7F5-E4358D41F74E}" type="datetimeFigureOut">
              <a:rPr lang="en-CA" smtClean="0"/>
              <a:t>2023-05-25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334529-5407-4A53-88E9-A377A84F1D6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4644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371" y="491459"/>
            <a:ext cx="11082103" cy="3277485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+mn-lt"/>
                <a:ea typeface="Arial"/>
                <a:cs typeface="Arial"/>
                <a:sym typeface="Arial"/>
              </a:rPr>
              <a:t>Feasibility Study of Intermittent Fasting in Chronic Lymphocytic Leukemia and Small Lymphocytic Lymphoma (CLL/SLL) Patients at BC Cancer - Victoria</a:t>
            </a:r>
            <a:r>
              <a:rPr lang="en-US" b="1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CA" dirty="0"/>
          </a:p>
        </p:txBody>
      </p:sp>
      <p:pic>
        <p:nvPicPr>
          <p:cNvPr id="4" name="Google Shape;14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5526" y="2570976"/>
            <a:ext cx="2395936" cy="239593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385371" y="4415218"/>
            <a:ext cx="7244622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Study team:</a:t>
            </a:r>
            <a:endParaRPr lang="en-US" sz="2400" dirty="0"/>
          </a:p>
          <a:p>
            <a:pPr lvl="0"/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Research Lead – Eleah Stringer, MSc, RD, CSO</a:t>
            </a:r>
            <a:endParaRPr lang="en-US" sz="2400" dirty="0"/>
          </a:p>
          <a:p>
            <a:pPr lvl="0"/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PI – Dr. Nicol Macpherson, Medical Oncologist</a:t>
            </a:r>
            <a:endParaRPr lang="en-US" sz="2400" dirty="0"/>
          </a:p>
          <a:p>
            <a:pPr lvl="0"/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Co-Investigator – Dr. Julian Lum</a:t>
            </a:r>
            <a:endParaRPr lang="en-US" sz="2400" dirty="0"/>
          </a:p>
          <a:p>
            <a:pPr lvl="0"/>
            <a:r>
              <a:rPr lang="en-U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Research Assistants: Nathalie Costie &amp; Samantha Punch</a:t>
            </a:r>
            <a:endParaRPr lang="en-US" sz="2400" dirty="0"/>
          </a:p>
          <a:p>
            <a:pPr lvl="0"/>
            <a:endParaRPr lang="en-US" sz="2800"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4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96995" y="5666283"/>
            <a:ext cx="2441995" cy="11188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603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bb471377b_0_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Dual role of autophagy in cancer</a:t>
            </a:r>
            <a:endParaRPr/>
          </a:p>
        </p:txBody>
      </p:sp>
      <p:sp>
        <p:nvSpPr>
          <p:cNvPr id="305" name="Google Shape;305;g18bb471377b_0_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-US" sz="2000" b="1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premalignant lesions</a:t>
            </a:r>
            <a:r>
              <a:rPr lang="en-US" sz="2000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, animal models suggest that autophagy </a:t>
            </a:r>
            <a:r>
              <a:rPr lang="en-US" sz="2000" b="1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might prevent cancer development </a:t>
            </a:r>
            <a:r>
              <a:rPr lang="en-US" sz="2000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by protecting cells from oxidative stress, DNA damage, inflammation and the accumulation of dysfunctional organelles (Antunes et al., 2018; Galluzzi et al., 2015).</a:t>
            </a:r>
            <a:endParaRPr sz="2000">
              <a:solidFill>
                <a:srgbClr val="37354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000">
              <a:solidFill>
                <a:srgbClr val="37354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 b="1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In contrast</a:t>
            </a:r>
            <a:r>
              <a:rPr lang="en-US" sz="2000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, once cancer is established, autophagy </a:t>
            </a:r>
            <a:r>
              <a:rPr lang="en-US" sz="2000" b="1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may promote tumor cell survival and growth </a:t>
            </a:r>
            <a:r>
              <a:rPr lang="en-US" sz="2000">
                <a:solidFill>
                  <a:srgbClr val="373545"/>
                </a:solidFill>
                <a:latin typeface="Arial"/>
                <a:ea typeface="Arial"/>
                <a:cs typeface="Arial"/>
                <a:sym typeface="Arial"/>
              </a:rPr>
              <a:t>by allowing tumors to cope with stressors including hypoxia, nutritional and growth factor deprivation, and chemotherapy allowing the tumors to adapt, proliferate, survive and disseminate (Lum et al., 2005); Levine, Mizushima, &amp; Virgin, 2011; Amaravadi et al., 201; White, 2012)</a:t>
            </a:r>
            <a:endParaRPr sz="2000">
              <a:solidFill>
                <a:srgbClr val="37354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5475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8bb471377b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+mn-lt"/>
              </a:rPr>
              <a:t>Intermittent fasting, autophagy, and cancer</a:t>
            </a:r>
            <a:endParaRPr dirty="0">
              <a:latin typeface="+mn-lt"/>
            </a:endParaRPr>
          </a:p>
        </p:txBody>
      </p:sp>
      <p:sp>
        <p:nvSpPr>
          <p:cNvPr id="312" name="Google Shape;312;g18bb471377b_0_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8300" algn="l" rtl="0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dirty="0">
                <a:ea typeface="Arial"/>
                <a:cs typeface="Arial"/>
                <a:sym typeface="Arial"/>
              </a:rPr>
              <a:t>Limited findings however…</a:t>
            </a:r>
            <a:endParaRPr sz="2200" dirty="0">
              <a:ea typeface="Arial"/>
              <a:cs typeface="Arial"/>
              <a:sym typeface="Arial"/>
            </a:endParaRPr>
          </a:p>
          <a:p>
            <a:pPr marL="914400" lvl="1" indent="-3683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i="1" dirty="0">
                <a:ea typeface="Arial"/>
                <a:cs typeface="Arial"/>
                <a:sym typeface="Arial"/>
              </a:rPr>
              <a:t>Augment intracellular protein quality (Lee et al., 2014)</a:t>
            </a:r>
            <a:endParaRPr sz="2200" i="1" dirty="0">
              <a:ea typeface="Arial"/>
              <a:cs typeface="Arial"/>
              <a:sym typeface="Arial"/>
            </a:endParaRPr>
          </a:p>
          <a:p>
            <a:pPr marL="914400" lvl="1" indent="-3683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i="1" dirty="0">
                <a:ea typeface="Arial"/>
                <a:cs typeface="Arial"/>
                <a:sym typeface="Arial"/>
              </a:rPr>
              <a:t>Improves the maintenance of the proteome by targeting autophagy-dependent TORC1</a:t>
            </a:r>
            <a:endParaRPr sz="2200" i="1" dirty="0">
              <a:ea typeface="Arial"/>
              <a:cs typeface="Arial"/>
              <a:sym typeface="Arial"/>
            </a:endParaRPr>
          </a:p>
          <a:p>
            <a:pPr marL="914400" lvl="0" indent="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200" i="1" dirty="0">
              <a:ea typeface="Arial"/>
              <a:cs typeface="Arial"/>
              <a:sym typeface="Arial"/>
            </a:endParaRPr>
          </a:p>
          <a:p>
            <a:pPr marL="457200" lvl="0" indent="-355600" algn="l" rtl="0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 dirty="0">
                <a:ea typeface="Arial"/>
                <a:cs typeface="Arial"/>
                <a:sym typeface="Arial"/>
              </a:rPr>
              <a:t>Calorie Restriction has shown to downregulate TORC1 &amp; upregulate autophagy in a number of tissues (Towers &amp; </a:t>
            </a:r>
            <a:r>
              <a:rPr lang="en-US" sz="2000" dirty="0" err="1">
                <a:ea typeface="Arial"/>
                <a:cs typeface="Arial"/>
                <a:sym typeface="Arial"/>
              </a:rPr>
              <a:t>Thorburn</a:t>
            </a:r>
            <a:r>
              <a:rPr lang="en-US" sz="2000" dirty="0">
                <a:ea typeface="Arial"/>
                <a:cs typeface="Arial"/>
                <a:sym typeface="Arial"/>
              </a:rPr>
              <a:t>, 2016)</a:t>
            </a:r>
            <a:endParaRPr sz="2000" dirty="0">
              <a:ea typeface="Arial"/>
              <a:cs typeface="Arial"/>
              <a:sym typeface="Arial"/>
            </a:endParaRPr>
          </a:p>
          <a:p>
            <a:pPr marL="914400" lvl="1" indent="-36830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•"/>
            </a:pPr>
            <a:r>
              <a:rPr lang="en-US" sz="2200" i="1" dirty="0">
                <a:ea typeface="Arial"/>
                <a:cs typeface="Arial"/>
                <a:sym typeface="Arial"/>
              </a:rPr>
              <a:t>Restore </a:t>
            </a:r>
            <a:r>
              <a:rPr lang="en-US" sz="2200" i="1" dirty="0" err="1">
                <a:ea typeface="Arial"/>
                <a:cs typeface="Arial"/>
                <a:sym typeface="Arial"/>
              </a:rPr>
              <a:t>autophagic</a:t>
            </a:r>
            <a:r>
              <a:rPr lang="en-US" sz="2200" i="1" dirty="0">
                <a:ea typeface="Arial"/>
                <a:cs typeface="Arial"/>
                <a:sym typeface="Arial"/>
              </a:rPr>
              <a:t> function &amp; thereby preserve organelle quality (Stockman et al., 2018)</a:t>
            </a:r>
            <a:endParaRPr sz="2200" i="1" dirty="0"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3055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8aed78b94e_4_13"/>
          <p:cNvSpPr txBox="1">
            <a:spLocks noGrp="1"/>
          </p:cNvSpPr>
          <p:nvPr>
            <p:ph type="ctrTitle"/>
          </p:nvPr>
        </p:nvSpPr>
        <p:spPr>
          <a:xfrm>
            <a:off x="1375974" y="0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dirty="0"/>
              <a:t>Autophagy Flux Data</a:t>
            </a:r>
            <a:endParaRPr dirty="0"/>
          </a:p>
        </p:txBody>
      </p:sp>
      <p:sp>
        <p:nvSpPr>
          <p:cNvPr id="318" name="Google Shape;318;g18aed78b94e_4_13"/>
          <p:cNvSpPr txBox="1">
            <a:spLocks noGrp="1"/>
          </p:cNvSpPr>
          <p:nvPr>
            <p:ph type="subTitle" idx="1"/>
          </p:nvPr>
        </p:nvSpPr>
        <p:spPr>
          <a:xfrm>
            <a:off x="947195" y="3113779"/>
            <a:ext cx="10001559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CA" dirty="0"/>
              <a:t>  INCLUDED: IF-002, 004, 006, 007, 009, 010, 013, 017, 018, 019, 020, 021, 022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CA" dirty="0"/>
              <a:t>EXCLUDED: IF-005, IF-012 (partial time points, suboptimal protein collection)</a:t>
            </a:r>
            <a:endParaRPr dirty="0"/>
          </a:p>
        </p:txBody>
      </p:sp>
      <p:sp>
        <p:nvSpPr>
          <p:cNvPr id="319" name="Google Shape;319;g18aed78b94e_4_13"/>
          <p:cNvSpPr/>
          <p:nvPr/>
        </p:nvSpPr>
        <p:spPr>
          <a:xfrm>
            <a:off x="1375975" y="4393241"/>
            <a:ext cx="9144000" cy="19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Question: does intermittent fasting </a:t>
            </a:r>
            <a:r>
              <a:rPr lang="en-US" sz="2800" dirty="0"/>
              <a:t>upregulate</a:t>
            </a: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 autophagy in patients with CLL/</a:t>
            </a:r>
            <a:r>
              <a:rPr lang="en-US" sz="2800" dirty="0">
                <a:sym typeface="Arial"/>
              </a:rPr>
              <a:t>S</a:t>
            </a:r>
            <a:r>
              <a:rPr lang="en-US" sz="2800" dirty="0">
                <a:solidFill>
                  <a:srgbClr val="000000"/>
                </a:solidFill>
                <a:ea typeface="Arial"/>
                <a:cs typeface="Arial"/>
                <a:sym typeface="Arial"/>
              </a:rPr>
              <a:t>LL?</a:t>
            </a:r>
            <a:endParaRPr sz="2800" dirty="0">
              <a:solidFill>
                <a:srgbClr val="000000"/>
              </a:solidFill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4046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915bcfc7df_1_15"/>
          <p:cNvSpPr txBox="1"/>
          <p:nvPr/>
        </p:nvSpPr>
        <p:spPr>
          <a:xfrm>
            <a:off x="0" y="64578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Image created with BioRender.com</a:t>
            </a:r>
            <a:endParaRPr sz="1200" dirty="0"/>
          </a:p>
        </p:txBody>
      </p:sp>
      <p:pic>
        <p:nvPicPr>
          <p:cNvPr id="211" name="Google Shape;211;g1915bcfc7df_1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975" y="304800"/>
            <a:ext cx="8787548" cy="6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1915bcfc7df_1_15"/>
          <p:cNvSpPr txBox="1"/>
          <p:nvPr/>
        </p:nvSpPr>
        <p:spPr>
          <a:xfrm>
            <a:off x="163300" y="4257300"/>
            <a:ext cx="9665100" cy="19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patients consented to the initial 4 month study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667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IF-002, 004, 005, 006, 007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 patients consented to the 6 month extension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patients opted to fast for 6 months (IF-017, 019, 020, 021, 022)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1430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 patients ended the fast after 90 days (IF-009, 010, 012, 013, 018)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451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567" y="204869"/>
            <a:ext cx="10515600" cy="1325563"/>
          </a:xfrm>
        </p:spPr>
        <p:txBody>
          <a:bodyPr/>
          <a:lstStyle/>
          <a:p>
            <a:r>
              <a:rPr lang="en-CA" dirty="0" smtClean="0"/>
              <a:t>Autophagy Flux Assay Workflow</a:t>
            </a:r>
            <a:endParaRPr lang="en-CA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631" y="1449773"/>
            <a:ext cx="7318737" cy="5123116"/>
          </a:xfrm>
        </p:spPr>
      </p:pic>
      <p:sp>
        <p:nvSpPr>
          <p:cNvPr id="4" name="Google Shape;210;g1915bcfc7df_1_15"/>
          <p:cNvSpPr txBox="1"/>
          <p:nvPr/>
        </p:nvSpPr>
        <p:spPr>
          <a:xfrm>
            <a:off x="0" y="64887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Image created with BioRender.com</a:t>
            </a:r>
            <a:endParaRPr sz="1200" dirty="0"/>
          </a:p>
        </p:txBody>
      </p:sp>
    </p:spTree>
    <p:extLst>
      <p:ext uri="{BB962C8B-B14F-4D97-AF65-F5344CB8AC3E}">
        <p14:creationId xmlns:p14="http://schemas.microsoft.com/office/powerpoint/2010/main" val="2100447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066" y="178544"/>
            <a:ext cx="8498796" cy="6182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653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1488</TotalTime>
  <Words>621</Words>
  <Application>Microsoft Office PowerPoint</Application>
  <PresentationFormat>Widescreen</PresentationFormat>
  <Paragraphs>38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Feasibility Study of Intermittent Fasting in Chronic Lymphocytic Leukemia and Small Lymphocytic Lymphoma (CLL/SLL) Patients at BC Cancer - Victoria  </vt:lpstr>
      <vt:lpstr>Dual role of autophagy in cancer</vt:lpstr>
      <vt:lpstr>Intermittent fasting, autophagy, and cancer</vt:lpstr>
      <vt:lpstr>Autophagy Flux Data</vt:lpstr>
      <vt:lpstr>PowerPoint Presentation</vt:lpstr>
      <vt:lpstr>Autophagy Flux Assay Workflow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 study – Final Presentation</dc:title>
  <dc:creator>nathalie.costie@designsthatcell.ca</dc:creator>
  <cp:lastModifiedBy>Stringer, Eleah [BCCancer]</cp:lastModifiedBy>
  <cp:revision>13</cp:revision>
  <dcterms:created xsi:type="dcterms:W3CDTF">2023-03-28T00:58:10Z</dcterms:created>
  <dcterms:modified xsi:type="dcterms:W3CDTF">2023-05-25T17:55:30Z</dcterms:modified>
</cp:coreProperties>
</file>